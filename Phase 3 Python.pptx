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0145" y="2059305"/>
            <a:ext cx="2614929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lnTo>
                  <a:pt x="8832850" y="0"/>
                </a:lnTo>
                <a:close/>
              </a:path>
            </a:pathLst>
          </a:custGeom>
          <a:solidFill>
            <a:srgbClr val="89AB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522">
            <a:solidFill>
              <a:srgbClr val="7995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3268" y="285369"/>
            <a:ext cx="8474075" cy="526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2516" y="1163523"/>
            <a:ext cx="7967345" cy="4294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vikaParsatwar/Python-Assignmen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3147" y="262585"/>
            <a:ext cx="6520815" cy="22243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5250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Experiential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Learning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Assessment-</a:t>
            </a:r>
            <a:r>
              <a:rPr sz="2000" b="1" spc="-25" dirty="0">
                <a:latin typeface="Times New Roman"/>
                <a:cs typeface="Times New Roman"/>
              </a:rPr>
              <a:t>II</a:t>
            </a:r>
            <a:r>
              <a:rPr lang="en-US" sz="2000" b="1" spc="-25" dirty="0">
                <a:latin typeface="Times New Roman"/>
                <a:cs typeface="Times New Roman"/>
              </a:rPr>
              <a:t>I</a:t>
            </a:r>
            <a:endParaRPr lang="en-US" sz="2000" spc="-25" dirty="0">
              <a:latin typeface="Times New Roman"/>
              <a:cs typeface="Times New Roman"/>
            </a:endParaRPr>
          </a:p>
          <a:p>
            <a:pPr marR="95250"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(</a:t>
            </a:r>
            <a:r>
              <a:rPr lang="en-US" sz="2000" b="1" dirty="0">
                <a:latin typeface="Times New Roman"/>
                <a:cs typeface="Times New Roman"/>
              </a:rPr>
              <a:t>100</a:t>
            </a:r>
            <a:r>
              <a:rPr sz="2000" b="1" dirty="0">
                <a:latin typeface="Times New Roman"/>
                <a:cs typeface="Times New Roman"/>
              </a:rPr>
              <a:t>%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Code</a:t>
            </a:r>
            <a:r>
              <a:rPr sz="2000" b="1" spc="-10" dirty="0">
                <a:latin typeface="Times New Roman"/>
                <a:cs typeface="Times New Roman"/>
              </a:rPr>
              <a:t> Completion)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R="95250" algn="ctr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on</a:t>
            </a:r>
            <a:endParaRPr sz="2000" dirty="0">
              <a:latin typeface="Times New Roman"/>
              <a:cs typeface="Times New Roman"/>
            </a:endParaRPr>
          </a:p>
          <a:p>
            <a:pPr marR="107314" algn="ctr">
              <a:lnSpc>
                <a:spcPts val="3565"/>
              </a:lnSpc>
            </a:pPr>
            <a:r>
              <a:rPr sz="3200" b="1" dirty="0">
                <a:solidFill>
                  <a:srgbClr val="0000FF"/>
                </a:solidFill>
                <a:latin typeface="Times New Roman"/>
                <a:cs typeface="Times New Roman"/>
              </a:rPr>
              <a:t>“</a:t>
            </a:r>
            <a:r>
              <a:rPr sz="3200" dirty="0">
                <a:latin typeface="Baskerville Old Face"/>
                <a:cs typeface="Baskerville Old Face"/>
              </a:rPr>
              <a:t>QR</a:t>
            </a:r>
            <a:r>
              <a:rPr sz="3200" spc="-40" dirty="0">
                <a:latin typeface="Baskerville Old Face"/>
                <a:cs typeface="Baskerville Old Face"/>
              </a:rPr>
              <a:t> </a:t>
            </a:r>
            <a:r>
              <a:rPr sz="3200" dirty="0">
                <a:latin typeface="Baskerville Old Face"/>
                <a:cs typeface="Baskerville Old Face"/>
              </a:rPr>
              <a:t>Code</a:t>
            </a:r>
            <a:r>
              <a:rPr sz="3200" spc="-70" dirty="0">
                <a:latin typeface="Baskerville Old Face"/>
                <a:cs typeface="Baskerville Old Face"/>
              </a:rPr>
              <a:t> </a:t>
            </a:r>
            <a:r>
              <a:rPr sz="3200" dirty="0">
                <a:latin typeface="Baskerville Old Face"/>
                <a:cs typeface="Baskerville Old Face"/>
              </a:rPr>
              <a:t>Encoder</a:t>
            </a:r>
            <a:r>
              <a:rPr sz="3200" spc="-55" dirty="0">
                <a:latin typeface="Baskerville Old Face"/>
                <a:cs typeface="Baskerville Old Face"/>
              </a:rPr>
              <a:t> </a:t>
            </a:r>
            <a:r>
              <a:rPr sz="3200" dirty="0">
                <a:latin typeface="Baskerville Old Face"/>
                <a:cs typeface="Baskerville Old Face"/>
              </a:rPr>
              <a:t>/</a:t>
            </a:r>
            <a:r>
              <a:rPr sz="3200" spc="-10" dirty="0">
                <a:latin typeface="Baskerville Old Face"/>
                <a:cs typeface="Baskerville Old Face"/>
              </a:rPr>
              <a:t> Decoder</a:t>
            </a:r>
            <a:r>
              <a:rPr sz="32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1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0187" y="3294329"/>
            <a:ext cx="2694305" cy="953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Times New Roman"/>
                <a:cs typeface="Times New Roman"/>
              </a:rPr>
              <a:t>Presented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35" dirty="0">
                <a:latin typeface="Times New Roman"/>
                <a:cs typeface="Times New Roman"/>
              </a:rPr>
              <a:t>DEVIKA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PARSATWAR </a:t>
            </a:r>
            <a:r>
              <a:rPr sz="2000" b="1" spc="-10" dirty="0">
                <a:latin typeface="Times New Roman"/>
                <a:cs typeface="Times New Roman"/>
              </a:rPr>
              <a:t>[CM25015]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556"/>
            <a:ext cx="1444244" cy="10173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00420" y="3275533"/>
            <a:ext cx="24561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Times New Roman"/>
                <a:cs typeface="Times New Roman"/>
              </a:rPr>
              <a:t>Under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Ms.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Suchita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Meshkar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058" y="4645533"/>
            <a:ext cx="8006715" cy="2033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95"/>
              </a:spcBef>
            </a:pPr>
            <a:r>
              <a:rPr sz="2200" b="1" spc="-45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25" dirty="0">
                <a:latin typeface="Times New Roman"/>
                <a:cs typeface="Times New Roman"/>
              </a:rPr>
              <a:t> </a:t>
            </a:r>
            <a:r>
              <a:rPr sz="2200" b="1" spc="-5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spc="-10" dirty="0">
                <a:latin typeface="Times New Roman"/>
                <a:cs typeface="Times New Roman"/>
              </a:rPr>
              <a:t>Department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50"/>
              </a:lnSpc>
              <a:spcBef>
                <a:spcPts val="390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TECHNOLOGY</a:t>
            </a:r>
            <a:r>
              <a:rPr sz="2000" b="1" spc="-160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MANAGEMENT</a:t>
            </a:r>
            <a:r>
              <a:rPr sz="2000" b="1" spc="-26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65045">
              <a:lnSpc>
                <a:spcPts val="2350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1965">
              <a:lnSpc>
                <a:spcPct val="100000"/>
              </a:lnSpc>
            </a:pPr>
            <a:r>
              <a:rPr sz="2000" b="1" spc="-30" dirty="0">
                <a:latin typeface="Times New Roman"/>
                <a:cs typeface="Times New Roman"/>
              </a:rPr>
              <a:t>An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Autonomous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Institute,</a:t>
            </a:r>
            <a:r>
              <a:rPr sz="2000" b="1" spc="-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82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59" y="320421"/>
            <a:ext cx="13881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753871"/>
            <a:ext cx="6629400" cy="5704126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Core Milestones (Phase-3 Scope)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(100% Completion Status)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Code Architecture &amp; Algorithm (5-Option System)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 (Live Webcam &amp; Diagnostic Integration)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Logic Breakdown &amp; Defensive Fallback Handling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Final Phase-3 Branch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Contributions &amp; Assessment Rubrics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Outputs &amp; Live Stream Execution Results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Core Python Source Code </a:t>
            </a:r>
          </a:p>
          <a:p>
            <a:pPr marL="91440" indent="-88900">
              <a:lnSpc>
                <a:spcPct val="100000"/>
              </a:lnSpc>
              <a:spcBef>
                <a:spcPts val="100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406" y="6359518"/>
            <a:ext cx="3404870" cy="46100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B. Jain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-4762" y="-4762"/>
            <a:ext cx="9153525" cy="25400"/>
            <a:chOff x="-4762" y="-4762"/>
            <a:chExt cx="9153525" cy="254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9144000" y="0"/>
                  </a:moveTo>
                  <a:lnTo>
                    <a:pt x="0" y="0"/>
                  </a:lnTo>
                  <a:lnTo>
                    <a:pt x="0" y="15875"/>
                  </a:lnTo>
                  <a:lnTo>
                    <a:pt x="9144000" y="158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0" y="15875"/>
                  </a:moveTo>
                  <a:lnTo>
                    <a:pt x="9144000" y="1587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150" dirty="0"/>
              <a:t> </a:t>
            </a:r>
            <a:r>
              <a:rPr spc="-10" dirty="0"/>
              <a:t>Problem</a:t>
            </a:r>
            <a:r>
              <a:rPr spc="-1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16" y="1094613"/>
            <a:ext cx="7643495" cy="3657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Unpredictability: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Executing cross-platform applications often leads to unhandled runtime failures when binary dependencies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-python) or hardware assets are missing.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Phase-3 Completed Solution: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central CLI engine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main_menu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handles encoding, file-based decoding, real-time live video matrix scanning, and system diagnostics.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Environment Independence: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an automated headless fallback loop for cloud compilers lacking physical camera hardware, simulating continuous pattern tracking without crashing.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Sharing Bottlenecks: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Replaced inefficient link sharing with instant QR code generation and real-time camera decoding capabilities. </a:t>
            </a:r>
          </a:p>
          <a:p>
            <a:pPr marL="4445" marR="293370" algn="just">
              <a:lnSpc>
                <a:spcPct val="100000"/>
              </a:lnSpc>
              <a:spcBef>
                <a:spcPts val="100"/>
              </a:spcBef>
              <a:buSzPct val="95833"/>
              <a:tabLst>
                <a:tab pos="118745" algn="l"/>
              </a:tabLst>
            </a:pP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-4762" y="-4762"/>
            <a:ext cx="9153525" cy="25400"/>
            <a:chOff x="-4762" y="-4762"/>
            <a:chExt cx="9153525" cy="254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9144000" y="0"/>
                  </a:moveTo>
                  <a:lnTo>
                    <a:pt x="0" y="0"/>
                  </a:lnTo>
                  <a:lnTo>
                    <a:pt x="0" y="15875"/>
                  </a:lnTo>
                  <a:lnTo>
                    <a:pt x="9144000" y="158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15875"/>
            </a:xfrm>
            <a:custGeom>
              <a:avLst/>
              <a:gdLst/>
              <a:ahLst/>
              <a:cxnLst/>
              <a:rect l="l" t="t" r="r" b="b"/>
              <a:pathLst>
                <a:path w="9144000" h="15875">
                  <a:moveTo>
                    <a:pt x="0" y="15875"/>
                  </a:moveTo>
                  <a:lnTo>
                    <a:pt x="9144000" y="15875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58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825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8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2516" y="1621663"/>
            <a:ext cx="7965440" cy="37196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Fully implement a menu-driven CLI engine with 5 distinct options.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Execution Pipeline: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 defensive try-except wrappers and flag checks (HAS_QR, HAS_CV) to prevent runtime crashes.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 Capture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OpenCV stream capture (cv2.VideoCapture) with continuous frame detection (cv2.QRCodeDetector).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Headless Compiler Safeguards: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server-side virtual rendering fallbacks when UI frame display (cv2.imshow) is unavailable.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Benchmark: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completion of core logic, file I/O, live webcam tracking, headless simulation, and diagnostic reporting. </a:t>
            </a:r>
          </a:p>
          <a:p>
            <a:pPr marL="3175">
              <a:lnSpc>
                <a:spcPct val="100000"/>
              </a:lnSpc>
              <a:spcBef>
                <a:spcPts val="105"/>
              </a:spcBef>
              <a:buSzPct val="95000"/>
              <a:tabLst>
                <a:tab pos="10033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7859" y="320421"/>
            <a:ext cx="184403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3.</a:t>
            </a:r>
            <a:r>
              <a:rPr spc="-16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9639" y="990600"/>
            <a:ext cx="7284721" cy="55662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Pipeline: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main entry block if __name__ == "__main__":. </a:t>
            </a:r>
          </a:p>
          <a:p>
            <a:pPr marL="457200" lvl="2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safe background library import verification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cv2). </a:t>
            </a:r>
          </a:p>
          <a:p>
            <a:pPr marL="457200" lvl="2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operational status flags (HAS_QR, HAS_CV).</a:t>
            </a:r>
          </a:p>
          <a:p>
            <a:pPr marL="3175">
              <a:lnSpc>
                <a:spcPct val="100000"/>
              </a:lnSpc>
              <a:spcBef>
                <a:spcPts val="105"/>
              </a:spcBef>
              <a:buSzPct val="95000"/>
              <a:tabLst>
                <a:tab pos="100330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b="1" dirty="0">
                <a:latin typeface="Times New Roman"/>
                <a:cs typeface="Times New Roman"/>
              </a:rPr>
              <a:t>Functional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Routing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Loop: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option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(Options 1–5) to the console.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user selection with string sanitization.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logic to: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Option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encode_data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(QR generation with fallback text art). 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Option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decode_image_file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(Static image reading via OpenCV). 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Option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decode_live_webcam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(Camera stream / hardware bypass simulation). 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Option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run_diagnostics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(System context &amp; dependency check). 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Option 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 shutdown and exit loop.</a:t>
            </a:r>
          </a:p>
          <a:p>
            <a:pPr marL="460375" indent="-457200">
              <a:lnSpc>
                <a:spcPct val="100000"/>
              </a:lnSpc>
              <a:buSzPct val="95000"/>
              <a:buFont typeface="+mj-lt"/>
              <a:buAutoNum type="arabicPeriod"/>
              <a:tabLst>
                <a:tab pos="10033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85" dirty="0"/>
              <a:t> </a:t>
            </a:r>
            <a:r>
              <a:rPr spc="-10" dirty="0"/>
              <a:t>Flowchart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B57069-B64A-EB61-7391-BFC440A35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32" y="811529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135" dirty="0"/>
              <a:t> </a:t>
            </a:r>
            <a:r>
              <a:rPr dirty="0"/>
              <a:t>Understanding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Python</a:t>
            </a:r>
            <a:r>
              <a:rPr spc="-25" dirty="0"/>
              <a:t> </a:t>
            </a:r>
            <a:r>
              <a:rPr dirty="0"/>
              <a:t>Logic</a:t>
            </a:r>
            <a:r>
              <a:rPr spc="-35" dirty="0"/>
              <a:t> </a:t>
            </a:r>
            <a:r>
              <a:rPr dirty="0"/>
              <a:t>(70%</a:t>
            </a:r>
            <a:r>
              <a:rPr spc="-50" dirty="0"/>
              <a:t> </a:t>
            </a:r>
            <a:r>
              <a:rPr spc="-10" dirty="0"/>
              <a:t>Implementation)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00" y="1255521"/>
            <a:ext cx="8212455" cy="46169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sz="2000" b="1" dirty="0">
                <a:latin typeface="Calibri"/>
                <a:cs typeface="Calibri"/>
              </a:rPr>
              <a:t>	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Flag Allocation: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HAS_QR and HAS_CV dynamically set execution capabilities without throwing fatal import exceptions.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Modular Components: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main_menu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Controls the infinite selection loop (while True) with option filtering (1–5).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encode_data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Converts raw input into a PNG image asset or provides text-art terminal visualization as fallback.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decode_image_file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Performs file path verification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os.path.exists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extracts matrix payloads using OpenCV.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decode_live_webcam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Connects to physical hardware via cv2.VideoCapture(0) or routes through a mock capture frame loop for headless sandbox environments.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run_diagnostics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Provides a comprehensive system audit checking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sys.version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os.getcwd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and dependency status.</a:t>
            </a:r>
          </a:p>
          <a:p>
            <a:pPr marL="5080" marR="29845">
              <a:lnSpc>
                <a:spcPct val="103499"/>
              </a:lnSpc>
              <a:spcBef>
                <a:spcPts val="20"/>
              </a:spcBef>
              <a:buSzPct val="95000"/>
              <a:tabLst>
                <a:tab pos="138430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140" dirty="0"/>
              <a:t> </a:t>
            </a:r>
            <a:r>
              <a:rPr spc="-10" dirty="0"/>
              <a:t>Graphical</a:t>
            </a:r>
            <a:r>
              <a:rPr spc="-100" dirty="0"/>
              <a:t> </a:t>
            </a:r>
            <a:r>
              <a:rPr spc="-10" dirty="0"/>
              <a:t>Representation</a:t>
            </a:r>
            <a:r>
              <a:rPr spc="-100" dirty="0"/>
              <a:t> </a:t>
            </a:r>
            <a:r>
              <a:rPr dirty="0"/>
              <a:t>and</a:t>
            </a:r>
            <a:r>
              <a:rPr spc="50" dirty="0"/>
              <a:t>  </a:t>
            </a:r>
            <a:r>
              <a:rPr spc="-10" dirty="0"/>
              <a:t>Working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7CEC4-74AB-D535-EF2C-E5B8324CD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43" y="796289"/>
            <a:ext cx="8686800" cy="49134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7.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GitHub</a:t>
            </a:r>
            <a:r>
              <a:rPr spc="-1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Account,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Repository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201927"/>
            <a:ext cx="8395335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5"/>
              </a:spcBef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b="1" dirty="0">
                <a:latin typeface="Times New Roman"/>
                <a:cs typeface="Times New Roman"/>
              </a:rPr>
              <a:t>GitHub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Account: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maintain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personal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GitHub</a:t>
            </a:r>
            <a:r>
              <a:rPr sz="2000" spc="-10" dirty="0">
                <a:latin typeface="Times New Roman"/>
                <a:cs typeface="Times New Roman"/>
              </a:rPr>
              <a:t> account.</a:t>
            </a:r>
            <a:endParaRPr sz="20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b="1" dirty="0">
                <a:latin typeface="Times New Roman"/>
                <a:cs typeface="Times New Roman"/>
              </a:rPr>
              <a:t>Repository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Creation: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repository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named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Python-Assignment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b="1" dirty="0">
                <a:latin typeface="Times New Roman"/>
                <a:cs typeface="Times New Roman"/>
              </a:rPr>
              <a:t>Target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URL: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  <a:hlinkClick r:id="rId2"/>
              </a:rPr>
              <a:t>https://github.com/DevikaParsatwar/Python-Assignment</a:t>
            </a:r>
            <a:endParaRPr sz="20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b="1" dirty="0">
                <a:latin typeface="Times New Roman"/>
                <a:cs typeface="Times New Roman"/>
              </a:rPr>
              <a:t>Upload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Code: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Uploaded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Python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scripts.</a:t>
            </a:r>
            <a:endParaRPr sz="2000" dirty="0">
              <a:latin typeface="Times New Roman"/>
              <a:cs typeface="Times New Roman"/>
            </a:endParaRPr>
          </a:p>
          <a:p>
            <a:pPr marL="100330" indent="-97155">
              <a:lnSpc>
                <a:spcPct val="100000"/>
              </a:lnSpc>
              <a:buSzPct val="95000"/>
              <a:buFont typeface="Times New Roman"/>
              <a:buChar char="•"/>
              <a:tabLst>
                <a:tab pos="100330" algn="l"/>
              </a:tabLst>
            </a:pPr>
            <a:r>
              <a:rPr sz="2000" b="1" dirty="0">
                <a:latin typeface="Times New Roman"/>
                <a:cs typeface="Times New Roman"/>
              </a:rPr>
              <a:t>Track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Changes: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GitHub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history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modifications.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8.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Individual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Contribution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88327" y="1295400"/>
            <a:ext cx="7967345" cy="402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b="1" dirty="0"/>
              <a:t>Problem Analysis:</a:t>
            </a:r>
            <a:r>
              <a:rPr lang="en-IN" dirty="0"/>
              <a:t> Researched video stream decoding algorithms and sandbox/headless server constraints.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b="1" dirty="0"/>
              <a:t>Algorithm Design:</a:t>
            </a:r>
            <a:r>
              <a:rPr lang="en-IN" dirty="0"/>
              <a:t> Structured the 5-option state machine and hardware bypass simulation fallback routines.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b="1" dirty="0"/>
              <a:t>Python Coding:</a:t>
            </a:r>
            <a:r>
              <a:rPr lang="en-IN" dirty="0"/>
              <a:t> Written and tested </a:t>
            </a:r>
            <a:r>
              <a:rPr lang="en-IN" dirty="0" err="1"/>
              <a:t>decode_live_webcam</a:t>
            </a:r>
            <a:r>
              <a:rPr lang="en-IN" dirty="0"/>
              <a:t>(), </a:t>
            </a:r>
            <a:r>
              <a:rPr lang="en-IN" dirty="0" err="1"/>
              <a:t>run_diagnostics</a:t>
            </a:r>
            <a:r>
              <a:rPr lang="en-IN" dirty="0"/>
              <a:t>(), and upgraded terminal UI routines.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b="1" dirty="0"/>
              <a:t>Video &amp; Image Processing:</a:t>
            </a:r>
            <a:r>
              <a:rPr lang="en-IN" dirty="0"/>
              <a:t> Configured OpenCV </a:t>
            </a:r>
            <a:r>
              <a:rPr lang="en-IN" dirty="0" err="1"/>
              <a:t>QRCodeDetector</a:t>
            </a:r>
            <a:r>
              <a:rPr lang="en-IN" dirty="0"/>
              <a:t>() for both static images and frame-by-frame video capture.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b="1" dirty="0"/>
              <a:t>Testing:</a:t>
            </a:r>
            <a:r>
              <a:rPr lang="en-IN" dirty="0"/>
              <a:t> Validated complete runtime stability across hardware-connected, headless server, and missing-dependency test environments.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b="1" dirty="0"/>
              <a:t>Documentation &amp; PPT:</a:t>
            </a:r>
            <a:r>
              <a:rPr lang="en-IN" dirty="0"/>
              <a:t> Finalized the Phase-3 100% completion presentation slides and repository documentation. </a:t>
            </a:r>
          </a:p>
          <a:p>
            <a:pPr marL="3175">
              <a:lnSpc>
                <a:spcPct val="100000"/>
              </a:lnSpc>
              <a:spcBef>
                <a:spcPts val="105"/>
              </a:spcBef>
              <a:buSzPct val="95000"/>
              <a:tabLst>
                <a:tab pos="10033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95"/>
              </a:spcBef>
            </a:pPr>
            <a:r>
              <a:rPr dirty="0"/>
              <a:t>9.</a:t>
            </a:r>
            <a:r>
              <a:rPr spc="-110" dirty="0"/>
              <a:t> </a:t>
            </a:r>
            <a:r>
              <a:rPr dirty="0"/>
              <a:t>Result</a:t>
            </a:r>
            <a:r>
              <a:rPr spc="-75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dirty="0"/>
              <a:t>Expected</a:t>
            </a:r>
            <a:r>
              <a:rPr spc="-114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46861-59BF-8D77-E8B8-3D94C8915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796382"/>
            <a:ext cx="4391532" cy="57762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0" dirty="0">
                <a:solidFill>
                  <a:srgbClr val="0000FF"/>
                </a:solidFill>
                <a:latin typeface="Bernard MT Condensed"/>
                <a:cs typeface="Bernard MT Condensed"/>
              </a:rPr>
              <a:t>Thank</a:t>
            </a:r>
            <a:r>
              <a:rPr sz="5000" b="0" spc="-245" dirty="0">
                <a:solidFill>
                  <a:srgbClr val="0000FF"/>
                </a:solidFill>
                <a:latin typeface="Bernard MT Condensed"/>
                <a:cs typeface="Bernard MT Condensed"/>
              </a:rPr>
              <a:t> </a:t>
            </a:r>
            <a:r>
              <a:rPr sz="5000" b="0" spc="-25" dirty="0">
                <a:solidFill>
                  <a:srgbClr val="0000FF"/>
                </a:solidFill>
                <a:latin typeface="Bernard MT Condensed"/>
                <a:cs typeface="Bernard MT Condensed"/>
              </a:rPr>
              <a:t>You</a:t>
            </a:r>
            <a:endParaRPr sz="5000">
              <a:latin typeface="Bernard MT Condensed"/>
              <a:cs typeface="Bernard MT Condense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9758" y="3259073"/>
            <a:ext cx="431584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sto MT"/>
                <a:cs typeface="Calisto MT"/>
              </a:rPr>
              <a:t>QR</a:t>
            </a:r>
            <a:r>
              <a:rPr sz="2000" b="1" spc="-45" dirty="0">
                <a:latin typeface="Calisto MT"/>
                <a:cs typeface="Calisto MT"/>
              </a:rPr>
              <a:t> </a:t>
            </a:r>
            <a:r>
              <a:rPr sz="2000" b="1" dirty="0">
                <a:latin typeface="Calisto MT"/>
                <a:cs typeface="Calisto MT"/>
              </a:rPr>
              <a:t>Code</a:t>
            </a:r>
            <a:r>
              <a:rPr sz="2000" b="1" spc="-60" dirty="0">
                <a:latin typeface="Calisto MT"/>
                <a:cs typeface="Calisto MT"/>
              </a:rPr>
              <a:t> </a:t>
            </a:r>
            <a:r>
              <a:rPr sz="2000" b="1" dirty="0">
                <a:latin typeface="Calisto MT"/>
                <a:cs typeface="Calisto MT"/>
              </a:rPr>
              <a:t>Encoder</a:t>
            </a:r>
            <a:r>
              <a:rPr sz="2000" b="1" spc="-40" dirty="0">
                <a:latin typeface="Calisto MT"/>
                <a:cs typeface="Calisto MT"/>
              </a:rPr>
              <a:t> </a:t>
            </a:r>
            <a:r>
              <a:rPr sz="2000" b="1" dirty="0">
                <a:latin typeface="Calisto MT"/>
                <a:cs typeface="Calisto MT"/>
              </a:rPr>
              <a:t>/</a:t>
            </a:r>
            <a:r>
              <a:rPr sz="2000" b="1" spc="-45" dirty="0">
                <a:latin typeface="Calisto MT"/>
                <a:cs typeface="Calisto MT"/>
              </a:rPr>
              <a:t> </a:t>
            </a:r>
            <a:r>
              <a:rPr sz="2000" b="1" spc="-10" dirty="0">
                <a:latin typeface="Calisto MT"/>
                <a:cs typeface="Calisto MT"/>
              </a:rPr>
              <a:t>Decoder</a:t>
            </a:r>
            <a:r>
              <a:rPr sz="2000" b="1" spc="-60" dirty="0">
                <a:latin typeface="Calisto MT"/>
                <a:cs typeface="Calisto MT"/>
              </a:rPr>
              <a:t> </a:t>
            </a:r>
            <a:r>
              <a:rPr sz="2000" b="1" dirty="0">
                <a:latin typeface="Calisto MT"/>
                <a:cs typeface="Calisto MT"/>
              </a:rPr>
              <a:t>Phase</a:t>
            </a:r>
            <a:r>
              <a:rPr sz="2000" b="1" spc="-25" dirty="0">
                <a:latin typeface="Calisto MT"/>
                <a:cs typeface="Calisto MT"/>
              </a:rPr>
              <a:t> I</a:t>
            </a:r>
            <a:r>
              <a:rPr lang="en-US" sz="2000" b="1" spc="-25" dirty="0">
                <a:latin typeface="Calisto MT"/>
                <a:cs typeface="Calisto MT"/>
              </a:rPr>
              <a:t>I</a:t>
            </a:r>
            <a:r>
              <a:rPr sz="2000" b="1" spc="-25" dirty="0">
                <a:latin typeface="Calisto MT"/>
                <a:cs typeface="Calisto MT"/>
              </a:rPr>
              <a:t>I</a:t>
            </a:r>
            <a:endParaRPr sz="2000" dirty="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874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Baskerville Old Face</vt:lpstr>
      <vt:lpstr>Bernard MT Condensed</vt:lpstr>
      <vt:lpstr>Calibri</vt:lpstr>
      <vt:lpstr>Calisto MT</vt:lpstr>
      <vt:lpstr>Courier New</vt:lpstr>
      <vt:lpstr>Times New Roman</vt:lpstr>
      <vt:lpstr>Wingdings</vt:lpstr>
      <vt:lpstr>Office Theme</vt:lpstr>
      <vt:lpstr>PowerPoint Presentation</vt:lpstr>
      <vt:lpstr>Contents</vt:lpstr>
      <vt:lpstr>1. Problem Statement</vt:lpstr>
      <vt:lpstr>2. Objective</vt:lpstr>
      <vt:lpstr>3. Algorithm</vt:lpstr>
      <vt:lpstr>4. Flowchart</vt:lpstr>
      <vt:lpstr>5. Understanding of Python Logic (70% Implementation)</vt:lpstr>
      <vt:lpstr>6. Graphical Representation and  Working</vt:lpstr>
      <vt:lpstr>7. GitHub Account, Repository &amp; Collaboration</vt:lpstr>
      <vt:lpstr>8. Individual Contribution</vt:lpstr>
      <vt:lpstr>9. Result / Expected Output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Mehzabin</dc:creator>
  <cp:lastModifiedBy>Devika Parsatwar</cp:lastModifiedBy>
  <cp:revision>1</cp:revision>
  <dcterms:created xsi:type="dcterms:W3CDTF">2026-10-12T14:49:10Z</dcterms:created>
  <dcterms:modified xsi:type="dcterms:W3CDTF">2026-10-12T15:48:07Z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2026-10-12T00:00:00Z</vt:filetime>
  </property>
  <property fmtid="{D5CDD505-2E9C-101B-9397-08002B2CF9AE}" pid="6" name="Producer">
    <vt:lpwstr>Microsoft® PowerPoint® LTSC</vt:lpwstr>
  </property>
</Properties>
</file>